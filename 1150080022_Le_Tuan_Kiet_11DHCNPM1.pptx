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7" r:id="rId6"/>
    <p:sldId id="268" r:id="rId7"/>
    <p:sldId id="272" r:id="rId8"/>
    <p:sldId id="273" r:id="rId9"/>
    <p:sldId id="269" r:id="rId10"/>
    <p:sldId id="270" r:id="rId11"/>
  </p:sldIdLst>
  <p:sldSz cx="18288000" cy="10287000"/>
  <p:notesSz cx="6858000" cy="9144000"/>
  <p:embeddedFontLst>
    <p:embeddedFont>
      <p:font typeface="Bell MT" panose="02020503060305020303" pitchFamily="18" charset="0"/>
      <p:regular r:id="rId12"/>
      <p:bold r:id="rId13"/>
      <p:italic r:id="rId14"/>
    </p:embeddedFont>
    <p:embeddedFont>
      <p:font typeface="Benne" panose="020B0604020202020204" charset="0"/>
      <p:regular r:id="rId15"/>
    </p:embeddedFont>
    <p:embeddedFont>
      <p:font typeface="Ropa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35" y="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3.sv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57964" y="-3162300"/>
            <a:ext cx="20619368" cy="17515403"/>
            <a:chOff x="0" y="0"/>
            <a:chExt cx="27492491" cy="23353871"/>
          </a:xfrm>
        </p:grpSpPr>
        <p:sp>
          <p:nvSpPr>
            <p:cNvPr id="3" name="Freeform 3"/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/>
          <p:cNvSpPr/>
          <p:nvPr/>
        </p:nvSpPr>
        <p:spPr>
          <a:xfrm>
            <a:off x="15553122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/>
          <p:cNvSpPr/>
          <p:nvPr/>
        </p:nvSpPr>
        <p:spPr>
          <a:xfrm>
            <a:off x="-86456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83791" y="48314"/>
            <a:ext cx="13135858" cy="1617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271"/>
              </a:lnSpc>
              <a:spcBef>
                <a:spcPct val="0"/>
              </a:spcBef>
            </a:pPr>
            <a:r>
              <a:rPr lang="en-US" sz="8800" spc="331" dirty="0" err="1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Kiểm</a:t>
            </a:r>
            <a:r>
              <a:rPr lang="en-US" sz="8800" spc="331" dirty="0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8800" spc="331" dirty="0" err="1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thử</a:t>
            </a:r>
            <a:r>
              <a:rPr lang="en-US" sz="8800" spc="331" dirty="0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8800" spc="331" dirty="0" err="1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phần</a:t>
            </a:r>
            <a:r>
              <a:rPr lang="en-US" sz="8800" spc="331" dirty="0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8800" spc="331" dirty="0" err="1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mềm</a:t>
            </a:r>
            <a:r>
              <a:rPr lang="en-US" sz="8800" spc="331" dirty="0">
                <a:solidFill>
                  <a:srgbClr val="264120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8271" y="2533517"/>
            <a:ext cx="15709507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600" b="1" spc="168" dirty="0">
                <a:solidFill>
                  <a:srgbClr val="FF0000"/>
                </a:solidFill>
                <a:latin typeface="Bell MT" panose="02020503060305020303" pitchFamily="18" charset="0"/>
                <a:ea typeface="Benne"/>
                <a:cs typeface="Benne"/>
                <a:sym typeface="Benne"/>
              </a:rPr>
              <a:t>KIỂM CHỨNG RATE LIMITER: KHÔNG VƯỢT NGƯỠNG, KHÔNG CHẶN SAI QUÁ MỨC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2057" y="6629688"/>
            <a:ext cx="8319327" cy="331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582"/>
              </a:lnSpc>
              <a:spcBef>
                <a:spcPct val="0"/>
              </a:spcBef>
            </a:pP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    </a:t>
            </a:r>
            <a:r>
              <a:rPr lang="en-US" sz="4388" spc="131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Giảng</a:t>
            </a: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388" spc="131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viên</a:t>
            </a: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:  Phạm </a:t>
            </a:r>
            <a:r>
              <a:rPr lang="en-US" sz="4388" spc="131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Trọng</a:t>
            </a: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Huynh</a:t>
            </a:r>
          </a:p>
          <a:p>
            <a:pPr marL="0" lvl="0" indent="0">
              <a:lnSpc>
                <a:spcPts val="6582"/>
              </a:lnSpc>
              <a:spcBef>
                <a:spcPct val="0"/>
              </a:spcBef>
            </a:pP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    Sinh </a:t>
            </a:r>
            <a:r>
              <a:rPr lang="en-US" sz="4388" spc="131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viên</a:t>
            </a: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:     Lê Tuấn Kiệt</a:t>
            </a:r>
          </a:p>
          <a:p>
            <a:pPr marL="0" lvl="0" indent="0">
              <a:lnSpc>
                <a:spcPts val="6582"/>
              </a:lnSpc>
              <a:spcBef>
                <a:spcPct val="0"/>
              </a:spcBef>
            </a:pP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    </a:t>
            </a:r>
            <a:r>
              <a:rPr lang="en-US" sz="4388" spc="131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Lớp</a:t>
            </a: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: 		     11_ĐH_CNPM1</a:t>
            </a:r>
          </a:p>
          <a:p>
            <a:pPr marL="0" lvl="0" indent="0">
              <a:lnSpc>
                <a:spcPts val="6582"/>
              </a:lnSpc>
              <a:spcBef>
                <a:spcPct val="0"/>
              </a:spcBef>
            </a:pPr>
            <a:r>
              <a:rPr lang="en-US" sz="4388" spc="131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    MSSV: 	     1150080022</a:t>
            </a: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90E546C1-A7B3-A267-34A1-6F69C8413665}"/>
              </a:ext>
            </a:extLst>
          </p:cNvPr>
          <p:cNvSpPr/>
          <p:nvPr/>
        </p:nvSpPr>
        <p:spPr>
          <a:xfrm>
            <a:off x="-914402" y="7886700"/>
            <a:ext cx="3962401" cy="3920880"/>
          </a:xfrm>
          <a:custGeom>
            <a:avLst/>
            <a:gdLst/>
            <a:ahLst/>
            <a:cxnLst/>
            <a:rect l="l" t="t" r="r" b="b"/>
            <a:pathLst>
              <a:path w="3855254" h="3855254">
                <a:moveTo>
                  <a:pt x="0" y="0"/>
                </a:moveTo>
                <a:lnTo>
                  <a:pt x="3855254" y="0"/>
                </a:lnTo>
                <a:lnTo>
                  <a:pt x="3855254" y="3855254"/>
                </a:lnTo>
                <a:lnTo>
                  <a:pt x="0" y="3855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02FC88D5-63CC-3DE6-B8D7-02BB55F0562F}"/>
              </a:ext>
            </a:extLst>
          </p:cNvPr>
          <p:cNvSpPr/>
          <p:nvPr/>
        </p:nvSpPr>
        <p:spPr>
          <a:xfrm flipH="1">
            <a:off x="15553122" y="71476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1985" y="-3614202"/>
            <a:ext cx="20619368" cy="17515403"/>
            <a:chOff x="0" y="0"/>
            <a:chExt cx="27492491" cy="23353871"/>
          </a:xfrm>
        </p:grpSpPr>
        <p:sp>
          <p:nvSpPr>
            <p:cNvPr id="3" name="Freeform 3"/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788530" y="1279490"/>
            <a:ext cx="7060069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8531" y="3372538"/>
            <a:ext cx="7060070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3"/>
                </a:lnTo>
                <a:lnTo>
                  <a:pt x="0" y="125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788530" y="3569245"/>
            <a:ext cx="7424906" cy="79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2.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Phân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tích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yêu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cầu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,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phạm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vi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0079" y="1416846"/>
            <a:ext cx="522808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1.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Tổng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quan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dự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án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8530" y="5720965"/>
            <a:ext cx="7060069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83372" y="5944997"/>
            <a:ext cx="56682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3.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Kế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hoạch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kiểm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thử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19D76EAC-F7E8-5F13-F2D5-AE48067089EB}"/>
              </a:ext>
            </a:extLst>
          </p:cNvPr>
          <p:cNvSpPr/>
          <p:nvPr/>
        </p:nvSpPr>
        <p:spPr>
          <a:xfrm>
            <a:off x="788530" y="8038666"/>
            <a:ext cx="7060071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21522938-CA08-0BD0-78FD-CCD7E3747CA1}"/>
              </a:ext>
            </a:extLst>
          </p:cNvPr>
          <p:cNvSpPr txBox="1"/>
          <p:nvPr/>
        </p:nvSpPr>
        <p:spPr>
          <a:xfrm>
            <a:off x="788530" y="8247373"/>
            <a:ext cx="6099267" cy="828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4.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Thiết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kế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ca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kiểm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thử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7C994551-7CF0-1235-A17E-5E77086FBC23}"/>
              </a:ext>
            </a:extLst>
          </p:cNvPr>
          <p:cNvSpPr/>
          <p:nvPr/>
        </p:nvSpPr>
        <p:spPr>
          <a:xfrm>
            <a:off x="10004372" y="1249724"/>
            <a:ext cx="6603549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55D02E03-7CD6-02A4-8E9A-4C2663BC2944}"/>
              </a:ext>
            </a:extLst>
          </p:cNvPr>
          <p:cNvSpPr txBox="1"/>
          <p:nvPr/>
        </p:nvSpPr>
        <p:spPr>
          <a:xfrm>
            <a:off x="10201446" y="1438468"/>
            <a:ext cx="56682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5.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Thực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thi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kiểm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thử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63784291-FBA1-6E84-ED9C-42504A322639}"/>
              </a:ext>
            </a:extLst>
          </p:cNvPr>
          <p:cNvSpPr/>
          <p:nvPr/>
        </p:nvSpPr>
        <p:spPr>
          <a:xfrm>
            <a:off x="10004371" y="3372538"/>
            <a:ext cx="6603549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4E4707DC-CE23-D71D-88C7-DFF8CF4359E9}"/>
              </a:ext>
            </a:extLst>
          </p:cNvPr>
          <p:cNvSpPr txBox="1"/>
          <p:nvPr/>
        </p:nvSpPr>
        <p:spPr>
          <a:xfrm>
            <a:off x="10299718" y="3554633"/>
            <a:ext cx="56682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6.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Kiểm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thử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tự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động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A158FBD6-C16B-C89C-EFBA-B1D66048AC67}"/>
              </a:ext>
            </a:extLst>
          </p:cNvPr>
          <p:cNvSpPr/>
          <p:nvPr/>
        </p:nvSpPr>
        <p:spPr>
          <a:xfrm>
            <a:off x="10152044" y="5730443"/>
            <a:ext cx="6455876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7A71FEFB-9B0C-6EB6-2928-C8031D7DB4DF}"/>
              </a:ext>
            </a:extLst>
          </p:cNvPr>
          <p:cNvSpPr txBox="1"/>
          <p:nvPr/>
        </p:nvSpPr>
        <p:spPr>
          <a:xfrm>
            <a:off x="10447391" y="5935518"/>
            <a:ext cx="56682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7. Báo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cáo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lỗi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ED020D9C-F0C6-895A-2251-9857A4AF2E04}"/>
              </a:ext>
            </a:extLst>
          </p:cNvPr>
          <p:cNvSpPr/>
          <p:nvPr/>
        </p:nvSpPr>
        <p:spPr>
          <a:xfrm>
            <a:off x="10125005" y="7996102"/>
            <a:ext cx="6482915" cy="1257782"/>
          </a:xfrm>
          <a:custGeom>
            <a:avLst/>
            <a:gdLst/>
            <a:ahLst/>
            <a:cxnLst/>
            <a:rect l="l" t="t" r="r" b="b"/>
            <a:pathLst>
              <a:path w="5963623" h="1257782">
                <a:moveTo>
                  <a:pt x="0" y="0"/>
                </a:moveTo>
                <a:lnTo>
                  <a:pt x="5963623" y="0"/>
                </a:lnTo>
                <a:lnTo>
                  <a:pt x="5963623" y="1257782"/>
                </a:lnTo>
                <a:lnTo>
                  <a:pt x="0" y="125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A8BF9A6E-97D5-3139-8C18-72FE351BBB55}"/>
              </a:ext>
            </a:extLst>
          </p:cNvPr>
          <p:cNvSpPr txBox="1"/>
          <p:nvPr/>
        </p:nvSpPr>
        <p:spPr>
          <a:xfrm>
            <a:off x="10336589" y="8135654"/>
            <a:ext cx="56682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6" lvl="1" algn="l">
              <a:lnSpc>
                <a:spcPts val="6750"/>
              </a:lnSpc>
            </a:pP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8.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Tổng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kết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và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đánh</a:t>
            </a:r>
            <a:r>
              <a:rPr lang="en-US" sz="4500" dirty="0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 </a:t>
            </a:r>
            <a:r>
              <a:rPr lang="en-US" sz="4500" dirty="0" err="1">
                <a:solidFill>
                  <a:srgbClr val="264120"/>
                </a:solidFill>
                <a:latin typeface="Ropa Sans"/>
                <a:ea typeface="Ropa Sans"/>
                <a:cs typeface="Ropa Sans"/>
                <a:sym typeface="Ropa Sans"/>
              </a:rPr>
              <a:t>giá</a:t>
            </a:r>
            <a:endParaRPr lang="en-US" sz="4500" dirty="0">
              <a:solidFill>
                <a:srgbClr val="264120"/>
              </a:solidFill>
              <a:latin typeface="Ropa Sans"/>
              <a:ea typeface="Ropa Sans"/>
              <a:cs typeface="Ropa Sans"/>
              <a:sym typeface="Rop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/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/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/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29782" y="335198"/>
            <a:ext cx="78836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85434" y="886442"/>
            <a:ext cx="72655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Tổng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quan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dự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án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sp>
        <p:nvSpPr>
          <p:cNvPr id="30" name="Freeform 30"/>
          <p:cNvSpPr/>
          <p:nvPr/>
        </p:nvSpPr>
        <p:spPr>
          <a:xfrm flipH="1" flipV="1">
            <a:off x="16033385" y="-12721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-1251248" y="81391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1A40F5D6-C3DF-CC34-CC27-BD215913A63E}"/>
              </a:ext>
            </a:extLst>
          </p:cNvPr>
          <p:cNvSpPr txBox="1"/>
          <p:nvPr/>
        </p:nvSpPr>
        <p:spPr>
          <a:xfrm>
            <a:off x="2085024" y="2342561"/>
            <a:ext cx="14173200" cy="8518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website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nông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rate limit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brute‑force</a:t>
            </a: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sớm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ASP.Net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Core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7830"/>
              </a:lnSpc>
            </a:pPr>
            <a:endParaRPr lang="vi-V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7830"/>
              </a:lnSpc>
            </a:pPr>
            <a:endParaRPr lang="en-US" sz="3600" spc="89" dirty="0">
              <a:solidFill>
                <a:srgbClr val="FF0000"/>
              </a:solidFill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5140-3959-B22D-68C2-AA00E3BF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56ACC9-412E-C4B6-7B64-8EDB311E2836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8A2F00-D1DD-42E9-EF74-7A4B2B2E2AF1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F65A054-A167-C9DD-200A-8C1E9F4422A6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3DA8CA4F-21C4-F502-1DE3-CF9CEAC8CD33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4E37A5BD-63C7-2D72-3BD0-BEEC91BA8E58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F9A6756-112B-64C3-CA26-27433F408A97}"/>
              </a:ext>
            </a:extLst>
          </p:cNvPr>
          <p:cNvSpPr/>
          <p:nvPr/>
        </p:nvSpPr>
        <p:spPr>
          <a:xfrm>
            <a:off x="3904758" y="387071"/>
            <a:ext cx="112949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33BFC72-C15A-870E-07F7-511DE4DF51F9}"/>
              </a:ext>
            </a:extLst>
          </p:cNvPr>
          <p:cNvSpPr txBox="1"/>
          <p:nvPr/>
        </p:nvSpPr>
        <p:spPr>
          <a:xfrm>
            <a:off x="4182500" y="830016"/>
            <a:ext cx="11039332" cy="91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Phân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tích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yêu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cầu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,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phạm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vi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830F0C21-F832-49E5-E13A-89CB3561DE04}"/>
              </a:ext>
            </a:extLst>
          </p:cNvPr>
          <p:cNvSpPr/>
          <p:nvPr/>
        </p:nvSpPr>
        <p:spPr>
          <a:xfrm flipH="1" flipV="1">
            <a:off x="16033385" y="-12721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E52B0EDD-5205-69FA-04F2-88F4BEDA9E6A}"/>
              </a:ext>
            </a:extLst>
          </p:cNvPr>
          <p:cNvSpPr/>
          <p:nvPr/>
        </p:nvSpPr>
        <p:spPr>
          <a:xfrm>
            <a:off x="-1251248" y="81391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B7FA4F5D-0ECA-5A64-5CE4-C4AF901346A3}"/>
              </a:ext>
            </a:extLst>
          </p:cNvPr>
          <p:cNvSpPr txBox="1"/>
          <p:nvPr/>
        </p:nvSpPr>
        <p:spPr>
          <a:xfrm>
            <a:off x="847769" y="2351164"/>
            <a:ext cx="8354376" cy="5856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Module: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Đăng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nhập</a:t>
            </a:r>
            <a:endParaRPr lang="en-US" sz="3600" spc="89" dirty="0"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In scope: </a:t>
            </a:r>
            <a:r>
              <a:rPr lang="vi-VN" sz="3600" dirty="0">
                <a:latin typeface="Arial" panose="020B0604020202020204" pitchFamily="34" charset="0"/>
                <a:cs typeface="Arial" panose="020B0604020202020204" pitchFamily="34" charset="0"/>
              </a:rPr>
              <a:t>Đăng nhập sai dưới ngưỡng, đăng nhập sai vượt ngưỡng, đăng nhập đúng khi chưa bị khóa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 scope: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giỏ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A4E82-F4EA-A35A-0802-0FE747C8D8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4931" y="2842613"/>
            <a:ext cx="866273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489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F4B7-63EE-A9AF-9CEE-48AF7C88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79A1C5-1527-3510-0CC3-FC60876AB8A1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BE2720-8F47-C6C7-4A96-5FDC814DD68D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61C69A-58AE-5D4F-F394-012C08A33757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F8C90CC2-A5B8-EF9A-8C25-AEC301AF2D2C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6745F72B-F557-1665-9042-5C97D8498BBC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E9D1F34-397F-444A-D828-CCA6AC172FD1}"/>
              </a:ext>
            </a:extLst>
          </p:cNvPr>
          <p:cNvSpPr/>
          <p:nvPr/>
        </p:nvSpPr>
        <p:spPr>
          <a:xfrm>
            <a:off x="5229782" y="58753"/>
            <a:ext cx="78836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85136D-4DBE-7EFD-AE47-2903A633732B}"/>
              </a:ext>
            </a:extLst>
          </p:cNvPr>
          <p:cNvSpPr txBox="1"/>
          <p:nvPr/>
        </p:nvSpPr>
        <p:spPr>
          <a:xfrm>
            <a:off x="5094441" y="615031"/>
            <a:ext cx="8154366" cy="91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Kế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hoạch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kiểm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thử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77EEC5-49D2-5743-65F5-5A5E7804F3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7118" y="2028814"/>
            <a:ext cx="14573764" cy="74581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2FD44B-0CD2-B30F-C223-71CDEE7C58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625" y="1979790"/>
            <a:ext cx="15050641" cy="76921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79E1E1-7194-A591-8665-84F2771A6D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944" y="2008957"/>
            <a:ext cx="13436112" cy="74780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866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162B-9FAF-0F1A-5698-E41AE3F4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D01156-762C-4C04-CF76-F13FE9F3690F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7316D7-D130-B3D7-5370-0C483CA81CBD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C80559-CAED-B528-558B-D45AF7826933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DFD76133-4B00-8B37-91AF-E935770EAE55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9E3DBAF2-02D0-C4BD-0FF8-D5BD6A9F2023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0AE9BC7-CC53-F7BF-FA00-144C2455F1CE}"/>
              </a:ext>
            </a:extLst>
          </p:cNvPr>
          <p:cNvSpPr/>
          <p:nvPr/>
        </p:nvSpPr>
        <p:spPr>
          <a:xfrm>
            <a:off x="5060027" y="202052"/>
            <a:ext cx="8987511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D0A5923-EA11-9802-9A19-676CF442F0B3}"/>
              </a:ext>
            </a:extLst>
          </p:cNvPr>
          <p:cNvSpPr txBox="1"/>
          <p:nvPr/>
        </p:nvSpPr>
        <p:spPr>
          <a:xfrm>
            <a:off x="5048142" y="767545"/>
            <a:ext cx="9122851" cy="91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Thiết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kế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ca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kiểm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thử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86CBB7-95B1-C44D-40EF-544587413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477608"/>
            <a:ext cx="16306800" cy="3555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06D701-0042-6651-172E-9934BACB2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1370" y="1964857"/>
            <a:ext cx="11324823" cy="78920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7DEBF0-49A4-C863-4CF2-33F8DCED3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320" y="1924453"/>
            <a:ext cx="15904480" cy="82769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712B7B-C479-13A5-4807-FE7C0AE21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2240" y="1919562"/>
            <a:ext cx="16181542" cy="6881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B6DA40-4540-3960-339B-6ACBF4BDA8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1520" y="2012515"/>
            <a:ext cx="14669760" cy="77967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409336-896E-F39D-EB35-E79C1A6B24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5779" y="2015456"/>
            <a:ext cx="15467575" cy="72727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245977-D912-2C0B-FBC6-9AB8EF782C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1796" y="1969719"/>
            <a:ext cx="15366249" cy="754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95D80B-4386-D2DF-0E05-B44211F9D8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5618" y="1943929"/>
            <a:ext cx="16130437" cy="81410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69235F-B1BD-EFEE-9CB2-A7D1DE4F84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2240" y="1964856"/>
            <a:ext cx="15904480" cy="7875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F72FBB-6D41-C5AE-3507-7830BE3669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5606" y="1948103"/>
            <a:ext cx="16268986" cy="754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C212C5-8147-F6E3-0150-7319600EA18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0057" y="1943928"/>
            <a:ext cx="14481409" cy="78042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F29922-989C-90F9-492A-176E0743E18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6407" y="1927559"/>
            <a:ext cx="13376146" cy="77789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9F002B-4BD7-AB87-3A51-C0A75259D11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6" y="-1"/>
            <a:ext cx="4976602" cy="102870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919CA1-1A7A-B99E-26F0-021FFF88807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45814" y="1855800"/>
            <a:ext cx="14412693" cy="66282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955947-5B3B-107F-932E-ECCCA9E5688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9097" y="1980145"/>
            <a:ext cx="13629142" cy="66487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23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00A7-C789-2B55-A46F-5E3DCB2E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EBE34B-5B4D-BA4B-E572-F8532D73F67B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34B6AB-9450-A5CF-15E5-AD8CDD2DCDED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754278D-C7B7-4627-DE7F-A2B335095DC3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D9035AF0-D507-230C-82E5-A512C32B3CD4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78EBD60F-C542-2EB5-2D9A-0FEE1AFD5941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9B9DC0D-BF25-9AB3-C081-98D82574126A}"/>
              </a:ext>
            </a:extLst>
          </p:cNvPr>
          <p:cNvSpPr/>
          <p:nvPr/>
        </p:nvSpPr>
        <p:spPr>
          <a:xfrm>
            <a:off x="5229782" y="335198"/>
            <a:ext cx="78836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3C54CE2-C997-9DC8-011D-36E5DC984EF7}"/>
              </a:ext>
            </a:extLst>
          </p:cNvPr>
          <p:cNvSpPr txBox="1"/>
          <p:nvPr/>
        </p:nvSpPr>
        <p:spPr>
          <a:xfrm>
            <a:off x="5485434" y="886442"/>
            <a:ext cx="72655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Thực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thi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kiểm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thử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FBDF6FB-68EE-7A7B-7680-83C67924CFF7}"/>
              </a:ext>
            </a:extLst>
          </p:cNvPr>
          <p:cNvSpPr/>
          <p:nvPr/>
        </p:nvSpPr>
        <p:spPr>
          <a:xfrm flipH="1" flipV="1">
            <a:off x="16033385" y="-12721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012F8073-3AD0-5D41-D3CE-81CA6B8D7C1A}"/>
              </a:ext>
            </a:extLst>
          </p:cNvPr>
          <p:cNvSpPr/>
          <p:nvPr/>
        </p:nvSpPr>
        <p:spPr>
          <a:xfrm>
            <a:off x="-1251248" y="81391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7BA318-B0EF-713C-E0AE-72B8657E00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461" y="2139499"/>
            <a:ext cx="16489484" cy="6933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7771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00D0-07D3-25CB-0E10-ABA37E20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C87402-42B0-4753-AB4C-D57EFF538D67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100F20-AA31-7076-60FD-1ABAFF299C58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9828F1-B5EB-2337-32D5-4463F4BFEF59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3629AF27-2775-B71C-A823-D8BD95F894D2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8C60AC0A-2D72-A089-579D-E8E12368432A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D3CAD3C-64E4-A4D1-97E8-53B5182647CD}"/>
              </a:ext>
            </a:extLst>
          </p:cNvPr>
          <p:cNvSpPr/>
          <p:nvPr/>
        </p:nvSpPr>
        <p:spPr>
          <a:xfrm>
            <a:off x="5229782" y="335198"/>
            <a:ext cx="78836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737400-6231-C0A5-1A6A-76E65C66AD1D}"/>
              </a:ext>
            </a:extLst>
          </p:cNvPr>
          <p:cNvSpPr txBox="1"/>
          <p:nvPr/>
        </p:nvSpPr>
        <p:spPr>
          <a:xfrm>
            <a:off x="5485434" y="886442"/>
            <a:ext cx="726550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Kiểm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thử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tự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động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93BDF3C-588A-58B7-7FC3-D832890954D9}"/>
              </a:ext>
            </a:extLst>
          </p:cNvPr>
          <p:cNvSpPr/>
          <p:nvPr/>
        </p:nvSpPr>
        <p:spPr>
          <a:xfrm flipH="1" flipV="1">
            <a:off x="16033385" y="-12721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761F4BF3-B439-68E5-09BB-B45A6127371F}"/>
              </a:ext>
            </a:extLst>
          </p:cNvPr>
          <p:cNvSpPr/>
          <p:nvPr/>
        </p:nvSpPr>
        <p:spPr>
          <a:xfrm>
            <a:off x="-1251248" y="81391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5D4F781-DBC1-3207-9692-35142BA19B65}"/>
              </a:ext>
            </a:extLst>
          </p:cNvPr>
          <p:cNvSpPr txBox="1"/>
          <p:nvPr/>
        </p:nvSpPr>
        <p:spPr>
          <a:xfrm>
            <a:off x="1667440" y="1931104"/>
            <a:ext cx="15518987" cy="5856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Công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Selenium WebDriver,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Nunit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ChromeDriver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Các test script:</a:t>
            </a:r>
          </a:p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TestLoginFailThreeTimes_NotBlocked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khóa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TestLoginSuccess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reset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failcount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TestLoginFailBlocked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Chạm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ngưỡng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chặn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929278-F397-F1B2-E7C3-14FBDF5E23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529" y="8020755"/>
            <a:ext cx="8615669" cy="18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9123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AA70-3FF7-7384-C4C8-BB35D32B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A3CE85-01D3-7B46-FA79-52E8FBE64DDC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0CAE5-9826-A614-E6E0-FAA9CC61E6F6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DF0DD5-BADE-5CC7-7F82-F084123F45CD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9F17D671-FA43-EB46-701A-8A9AF8F064ED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0AB73E85-B494-AE83-052A-24A7049DAFDB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1D8C64D-437C-9B89-72FC-113277A61E9E}"/>
              </a:ext>
            </a:extLst>
          </p:cNvPr>
          <p:cNvSpPr/>
          <p:nvPr/>
        </p:nvSpPr>
        <p:spPr>
          <a:xfrm>
            <a:off x="5229782" y="58753"/>
            <a:ext cx="7883684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986E20-2089-17AC-5BBB-CDDAF24F5C49}"/>
              </a:ext>
            </a:extLst>
          </p:cNvPr>
          <p:cNvSpPr txBox="1"/>
          <p:nvPr/>
        </p:nvSpPr>
        <p:spPr>
          <a:xfrm>
            <a:off x="5094441" y="615031"/>
            <a:ext cx="8154366" cy="91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Báo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cáo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lỗi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0E8E36-2D19-1837-4380-082466E5D2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027" y="1946606"/>
            <a:ext cx="14401946" cy="7622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86190D-0910-850A-6F12-292522D32A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516" y="2335670"/>
            <a:ext cx="17620215" cy="44160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42AC95-9C2F-E672-B02D-27A4027AA8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1971662"/>
            <a:ext cx="12683595" cy="73104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938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8BEE-B251-7DE9-0FF0-5F446EDD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1D0085-F6CA-03C0-4CB6-91F71B7E79B3}"/>
              </a:ext>
            </a:extLst>
          </p:cNvPr>
          <p:cNvGrpSpPr/>
          <p:nvPr/>
        </p:nvGrpSpPr>
        <p:grpSpPr>
          <a:xfrm>
            <a:off x="-653817" y="-3614202"/>
            <a:ext cx="20619368" cy="17515403"/>
            <a:chOff x="0" y="0"/>
            <a:chExt cx="27492491" cy="233538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CDAA75-AF65-AA38-E564-6573DAFC146F}"/>
                </a:ext>
              </a:extLst>
            </p:cNvPr>
            <p:cNvSpPr/>
            <p:nvPr/>
          </p:nvSpPr>
          <p:spPr>
            <a:xfrm rot="-5400000">
              <a:off x="891156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C1C6D8-E5DD-F4EE-7304-85119A47693D}"/>
                </a:ext>
              </a:extLst>
            </p:cNvPr>
            <p:cNvSpPr/>
            <p:nvPr/>
          </p:nvSpPr>
          <p:spPr>
            <a:xfrm rot="-5400000">
              <a:off x="-4772947" y="4772947"/>
              <a:ext cx="23353871" cy="13807976"/>
            </a:xfrm>
            <a:custGeom>
              <a:avLst/>
              <a:gdLst/>
              <a:ahLst/>
              <a:cxnLst/>
              <a:rect l="l" t="t" r="r" b="b"/>
              <a:pathLst>
                <a:path w="23353871" h="13807976">
                  <a:moveTo>
                    <a:pt x="0" y="0"/>
                  </a:moveTo>
                  <a:lnTo>
                    <a:pt x="23353871" y="0"/>
                  </a:lnTo>
                  <a:lnTo>
                    <a:pt x="23353871" y="13807977"/>
                  </a:lnTo>
                  <a:lnTo>
                    <a:pt x="0" y="13807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/>
              </a:stretch>
            </a:blipFill>
          </p:spPr>
        </p:sp>
      </p:grpSp>
      <p:sp>
        <p:nvSpPr>
          <p:cNvPr id="5" name="Freeform 5" descr="Abstract Minimalist Wavy Lines">
            <a:extLst>
              <a:ext uri="{FF2B5EF4-FFF2-40B4-BE49-F238E27FC236}">
                <a16:creationId xmlns:a16="http://schemas.microsoft.com/office/drawing/2014/main" id="{95239119-012D-02A8-9675-B296B140DCF3}"/>
              </a:ext>
            </a:extLst>
          </p:cNvPr>
          <p:cNvSpPr/>
          <p:nvPr/>
        </p:nvSpPr>
        <p:spPr>
          <a:xfrm>
            <a:off x="15517091" y="9288213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4" y="0"/>
                </a:lnTo>
                <a:lnTo>
                  <a:pt x="2909454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bstract Minimalist Wavy Lines">
            <a:extLst>
              <a:ext uri="{FF2B5EF4-FFF2-40B4-BE49-F238E27FC236}">
                <a16:creationId xmlns:a16="http://schemas.microsoft.com/office/drawing/2014/main" id="{5AD8E33B-26FA-F323-3385-731D9FA2506A}"/>
              </a:ext>
            </a:extLst>
          </p:cNvPr>
          <p:cNvSpPr/>
          <p:nvPr/>
        </p:nvSpPr>
        <p:spPr>
          <a:xfrm>
            <a:off x="-122487" y="-103909"/>
            <a:ext cx="2909455" cy="1137332"/>
          </a:xfrm>
          <a:custGeom>
            <a:avLst/>
            <a:gdLst/>
            <a:ahLst/>
            <a:cxnLst/>
            <a:rect l="l" t="t" r="r" b="b"/>
            <a:pathLst>
              <a:path w="2909455" h="1137332">
                <a:moveTo>
                  <a:pt x="0" y="0"/>
                </a:moveTo>
                <a:lnTo>
                  <a:pt x="2909455" y="0"/>
                </a:lnTo>
                <a:lnTo>
                  <a:pt x="2909455" y="1137332"/>
                </a:lnTo>
                <a:lnTo>
                  <a:pt x="0" y="113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15F50E1-17D3-3FE1-8794-6143522D4811}"/>
              </a:ext>
            </a:extLst>
          </p:cNvPr>
          <p:cNvSpPr/>
          <p:nvPr/>
        </p:nvSpPr>
        <p:spPr>
          <a:xfrm>
            <a:off x="4966615" y="58813"/>
            <a:ext cx="8410018" cy="1662741"/>
          </a:xfrm>
          <a:custGeom>
            <a:avLst/>
            <a:gdLst/>
            <a:ahLst/>
            <a:cxnLst/>
            <a:rect l="l" t="t" r="r" b="b"/>
            <a:pathLst>
              <a:path w="7883684" h="1662741">
                <a:moveTo>
                  <a:pt x="0" y="0"/>
                </a:moveTo>
                <a:lnTo>
                  <a:pt x="7883684" y="0"/>
                </a:lnTo>
                <a:lnTo>
                  <a:pt x="7883684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0557FDC-C352-C1C9-0A4D-81436A157F11}"/>
              </a:ext>
            </a:extLst>
          </p:cNvPr>
          <p:cNvSpPr txBox="1"/>
          <p:nvPr/>
        </p:nvSpPr>
        <p:spPr>
          <a:xfrm>
            <a:off x="5094441" y="615031"/>
            <a:ext cx="8154366" cy="913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Tổng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kết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và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đánh</a:t>
            </a:r>
            <a:r>
              <a:rPr lang="en-US" sz="7499" spc="74" dirty="0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 </a:t>
            </a:r>
            <a:r>
              <a:rPr lang="en-US" sz="7499" spc="74" dirty="0" err="1">
                <a:solidFill>
                  <a:srgbClr val="FFFAF4"/>
                </a:solidFill>
                <a:latin typeface="Benne"/>
                <a:ea typeface="Benne"/>
                <a:cs typeface="Benne"/>
                <a:sym typeface="Benne"/>
              </a:rPr>
              <a:t>giá</a:t>
            </a:r>
            <a:endParaRPr lang="en-US" sz="7499" spc="74" dirty="0">
              <a:solidFill>
                <a:srgbClr val="FFFAF4"/>
              </a:solidFill>
              <a:latin typeface="Benne"/>
              <a:ea typeface="Benne"/>
              <a:cs typeface="Benne"/>
              <a:sym typeface="Benn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5BF9C-1C29-AB65-F1E7-F28571683480}"/>
              </a:ext>
            </a:extLst>
          </p:cNvPr>
          <p:cNvSpPr txBox="1"/>
          <p:nvPr/>
        </p:nvSpPr>
        <p:spPr>
          <a:xfrm>
            <a:off x="1837168" y="1721554"/>
            <a:ext cx="15544799" cy="8949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Rate limiter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đáp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ứng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yêu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cầu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đề</a:t>
            </a:r>
            <a:endParaRPr lang="en-US" sz="3600" spc="89" dirty="0"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Hiểu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rõ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quy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trình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kiểm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thử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phần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mềm</a:t>
            </a:r>
            <a:endParaRPr lang="en-US" sz="3600" spc="89" dirty="0"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Áp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dụng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được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các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kỹ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thuật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kiểm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thử</a:t>
            </a:r>
            <a:endParaRPr lang="en-US" sz="3600" spc="89" dirty="0"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  <a:p>
            <a:pPr>
              <a:lnSpc>
                <a:spcPts val="7830"/>
              </a:lnSpc>
            </a:pP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- Tuy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nhiên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có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1 test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bị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fail,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chưa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kiểm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các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moudule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khác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,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bảo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mật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nâng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cao</a:t>
            </a:r>
            <a:endParaRPr lang="en-US" sz="3600" spc="89" dirty="0">
              <a:latin typeface="Arial" panose="020B0604020202020204" pitchFamily="34" charset="0"/>
              <a:ea typeface="Benne"/>
              <a:cs typeface="Arial" panose="020B0604020202020204" pitchFamily="34" charset="0"/>
              <a:sym typeface="Benne"/>
            </a:endParaRPr>
          </a:p>
          <a:p>
            <a:pPr marL="571500" indent="-571500">
              <a:lnSpc>
                <a:spcPts val="7830"/>
              </a:lnSpc>
              <a:buFontTx/>
              <a:buChar char="-"/>
            </a:pP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Cải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 </a:t>
            </a:r>
            <a:r>
              <a:rPr lang="en-US" sz="3600" spc="89" dirty="0" err="1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tiến</a:t>
            </a: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: </a:t>
            </a:r>
          </a:p>
          <a:p>
            <a:pPr>
              <a:lnSpc>
                <a:spcPts val="7830"/>
              </a:lnSpc>
            </a:pPr>
            <a:r>
              <a:rPr lang="en-US" sz="3600" spc="89" dirty="0">
                <a:latin typeface="Arial" panose="020B0604020202020204" pitchFamily="34" charset="0"/>
                <a:ea typeface="Benne"/>
                <a:cs typeface="Arial" panose="020B0604020202020204" pitchFamily="34" charset="0"/>
                <a:sym typeface="Benne"/>
              </a:rPr>
              <a:t>	+ </a:t>
            </a:r>
            <a:r>
              <a:rPr lang="vi-VN" sz="3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Ghi log chi tiết hơn để dễ kiểm chứng và báo cáo</a:t>
            </a:r>
            <a:r>
              <a:rPr lang="vi-VN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783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+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CAPTCHA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brute‑force.</a:t>
            </a:r>
          </a:p>
          <a:p>
            <a:pPr>
              <a:lnSpc>
                <a:spcPts val="7830"/>
              </a:lnSpc>
            </a:pPr>
            <a:endParaRPr lang="vi-V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77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363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Ropa Sans</vt:lpstr>
      <vt:lpstr>Calibri</vt:lpstr>
      <vt:lpstr>Arial</vt:lpstr>
      <vt:lpstr>Bell MT</vt:lpstr>
      <vt:lpstr>Benne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Lê Tuấn Kiệt</dc:creator>
  <cp:lastModifiedBy>Lê Tuấn Kiệt</cp:lastModifiedBy>
  <cp:revision>58</cp:revision>
  <dcterms:created xsi:type="dcterms:W3CDTF">2006-08-16T00:00:00Z</dcterms:created>
  <dcterms:modified xsi:type="dcterms:W3CDTF">2026-03-18T14:00:43Z</dcterms:modified>
  <dc:identifier>DAHADSEI1E4</dc:identifier>
</cp:coreProperties>
</file>